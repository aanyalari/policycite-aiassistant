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1612701" y="1113754"/>
            <a:ext cx="5918599" cy="2901703"/>
          </a:xfrm>
          <a:prstGeom prst="rect">
            <a:avLst/>
          </a:prstGeom>
          <a:solidFill>
            <a:srgbClr val="E0F2E9">
              <a:alpha val="9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1"/>
          <p:cNvSpPr txBox="1"/>
          <p:nvPr/>
        </p:nvSpPr>
        <p:spPr>
          <a:xfrm>
            <a:off x="1612701" y="1705821"/>
            <a:ext cx="591859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pc="2" sz="35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POLICYCITE-RAG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1612701" y="2449190"/>
            <a:ext cx="591859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Verifiable AI for Healthcare Payment Policy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2944117" y="3096849"/>
            <a:ext cx="325576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Aanya Lari | Cotiviti Intern Assessment | Topic 3</a:t>
            </a:r>
          </a:p>
        </p:txBody>
      </p:sp>
      <p:pic>
        <p:nvPicPr>
          <p:cNvPr id="2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12702" y="3857402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 4"/>
          <p:cNvSpPr txBox="1"/>
          <p:nvPr/>
        </p:nvSpPr>
        <p:spPr>
          <a:xfrm>
            <a:off x="1827014" y="3842220"/>
            <a:ext cx="173414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Statement-level evidence</a:t>
            </a:r>
          </a:p>
        </p:txBody>
      </p:sp>
      <p:pic>
        <p:nvPicPr>
          <p:cNvPr id="2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46908" y="3857402"/>
            <a:ext cx="107157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ext 5"/>
          <p:cNvSpPr txBox="1"/>
          <p:nvPr/>
        </p:nvSpPr>
        <p:spPr>
          <a:xfrm>
            <a:off x="4025503" y="3842220"/>
            <a:ext cx="144839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Exact policy excerpts</a:t>
            </a:r>
          </a:p>
        </p:txBody>
      </p:sp>
      <p:pic>
        <p:nvPicPr>
          <p:cNvPr id="2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59648" y="3857402"/>
            <a:ext cx="17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ext 6"/>
          <p:cNvSpPr txBox="1"/>
          <p:nvPr/>
        </p:nvSpPr>
        <p:spPr>
          <a:xfrm>
            <a:off x="6009680" y="3842220"/>
            <a:ext cx="15216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Human-review routing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Text 0"/>
          <p:cNvSpPr txBox="1"/>
          <p:nvPr/>
        </p:nvSpPr>
        <p:spPr>
          <a:xfrm>
            <a:off x="741552" y="574625"/>
            <a:ext cx="840244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THE CRITICAL GAP IN PAYMENT POLICY AI</a:t>
            </a:r>
          </a:p>
        </p:txBody>
      </p:sp>
      <p:sp>
        <p:nvSpPr>
          <p:cNvPr id="34" name="Text 1"/>
          <p:cNvSpPr txBox="1"/>
          <p:nvPr/>
        </p:nvSpPr>
        <p:spPr>
          <a:xfrm>
            <a:off x="571500" y="1433215"/>
            <a:ext cx="113387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Source list ≠ Proof</a:t>
            </a:r>
          </a:p>
        </p:txBody>
      </p:sp>
      <p:sp>
        <p:nvSpPr>
          <p:cNvPr id="35" name="Text 2"/>
          <p:cNvSpPr txBox="1"/>
          <p:nvPr/>
        </p:nvSpPr>
        <p:spPr>
          <a:xfrm>
            <a:off x="571500" y="1724323"/>
            <a:ext cx="30064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 relevant document does not guarantee a supported</a:t>
            </a:r>
          </a:p>
        </p:txBody>
      </p:sp>
      <p:sp>
        <p:nvSpPr>
          <p:cNvPr id="36" name="Text 3"/>
          <p:cNvSpPr txBox="1"/>
          <p:nvPr/>
        </p:nvSpPr>
        <p:spPr>
          <a:xfrm>
            <a:off x="571499" y="1952923"/>
            <a:ext cx="308358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statement. One missing qualifier can change the entire</a:t>
            </a:r>
          </a:p>
        </p:txBody>
      </p:sp>
      <p:sp>
        <p:nvSpPr>
          <p:cNvPr id="37" name="Text 4"/>
          <p:cNvSpPr txBox="1"/>
          <p:nvPr/>
        </p:nvSpPr>
        <p:spPr>
          <a:xfrm>
            <a:off x="571500" y="2181523"/>
            <a:ext cx="105747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payment outcome.</a:t>
            </a:r>
          </a:p>
        </p:txBody>
      </p:sp>
      <p:sp>
        <p:nvSpPr>
          <p:cNvPr id="38" name="Text 5"/>
          <p:cNvSpPr txBox="1"/>
          <p:nvPr/>
        </p:nvSpPr>
        <p:spPr>
          <a:xfrm>
            <a:off x="571500" y="2597646"/>
            <a:ext cx="134880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Statement-Level Audit</a:t>
            </a:r>
          </a:p>
        </p:txBody>
      </p:sp>
      <p:sp>
        <p:nvSpPr>
          <p:cNvPr id="39" name="Text 6"/>
          <p:cNvSpPr txBox="1"/>
          <p:nvPr/>
        </p:nvSpPr>
        <p:spPr>
          <a:xfrm>
            <a:off x="571500" y="2888753"/>
            <a:ext cx="275833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PolicyCite-RAG verifies each claim against exact</a:t>
            </a:r>
          </a:p>
        </p:txBody>
      </p:sp>
      <p:sp>
        <p:nvSpPr>
          <p:cNvPr id="40" name="Text 7"/>
          <p:cNvSpPr txBox="1"/>
          <p:nvPr/>
        </p:nvSpPr>
        <p:spPr>
          <a:xfrm>
            <a:off x="571500" y="3117353"/>
            <a:ext cx="27849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evidence, checking source authority and effective</a:t>
            </a:r>
          </a:p>
        </p:txBody>
      </p:sp>
      <p:sp>
        <p:nvSpPr>
          <p:cNvPr id="41" name="Text 8"/>
          <p:cNvSpPr txBox="1"/>
          <p:nvPr/>
        </p:nvSpPr>
        <p:spPr>
          <a:xfrm>
            <a:off x="571500" y="3345953"/>
            <a:ext cx="3586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dates.</a:t>
            </a:r>
          </a:p>
        </p:txBody>
      </p:sp>
      <p:sp>
        <p:nvSpPr>
          <p:cNvPr id="42" name="Text 9"/>
          <p:cNvSpPr txBox="1"/>
          <p:nvPr/>
        </p:nvSpPr>
        <p:spPr>
          <a:xfrm>
            <a:off x="571500" y="3762076"/>
            <a:ext cx="121752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Technical Necessity</a:t>
            </a:r>
          </a:p>
        </p:txBody>
      </p:sp>
      <p:sp>
        <p:nvSpPr>
          <p:cNvPr id="43" name="Text 10"/>
          <p:cNvSpPr txBox="1"/>
          <p:nvPr/>
        </p:nvSpPr>
        <p:spPr>
          <a:xfrm>
            <a:off x="571500" y="4053185"/>
            <a:ext cx="299174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Verification must be granular to prevent claim denials</a:t>
            </a:r>
          </a:p>
        </p:txBody>
      </p:sp>
      <p:sp>
        <p:nvSpPr>
          <p:cNvPr id="44" name="Text 11"/>
          <p:cNvSpPr txBox="1"/>
          <p:nvPr/>
        </p:nvSpPr>
        <p:spPr>
          <a:xfrm>
            <a:off x="571499" y="4281785"/>
            <a:ext cx="23139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or prior-authorization errors caused by AI</a:t>
            </a:r>
          </a:p>
        </p:txBody>
      </p:sp>
      <p:sp>
        <p:nvSpPr>
          <p:cNvPr id="45" name="Text 12"/>
          <p:cNvSpPr txBox="1"/>
          <p:nvPr/>
        </p:nvSpPr>
        <p:spPr>
          <a:xfrm>
            <a:off x="571500" y="4510385"/>
            <a:ext cx="81755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hallucinations.</a:t>
            </a:r>
          </a:p>
        </p:txBody>
      </p:sp>
      <p:sp>
        <p:nvSpPr>
          <p:cNvPr id="46" name="Shape 13"/>
          <p:cNvSpPr/>
          <p:nvPr/>
        </p:nvSpPr>
        <p:spPr>
          <a:xfrm>
            <a:off x="4786312" y="1433215"/>
            <a:ext cx="3786189" cy="2671764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0B3B24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pic>
        <p:nvPicPr>
          <p:cNvPr id="4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86312" y="1576090"/>
            <a:ext cx="3757614" cy="2500314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 14"/>
          <p:cNvSpPr txBox="1"/>
          <p:nvPr/>
        </p:nvSpPr>
        <p:spPr>
          <a:xfrm>
            <a:off x="4786312" y="4290714"/>
            <a:ext cx="37861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0B3B24">
                    <a:alpha val="8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Sources: Gao et al. (2023); Chen et al. (2023). Benchmarks: ALCE, RGB.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 0"/>
          <p:cNvSpPr txBox="1"/>
          <p:nvPr/>
        </p:nvSpPr>
        <p:spPr>
          <a:xfrm>
            <a:off x="741552" y="574625"/>
            <a:ext cx="840244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EVOLVING RESEARCH IN AI GROUNDING</a:t>
            </a:r>
          </a:p>
        </p:txBody>
      </p:sp>
      <p:sp>
        <p:nvSpPr>
          <p:cNvPr id="52" name="Shape 1"/>
          <p:cNvSpPr/>
          <p:nvPr/>
        </p:nvSpPr>
        <p:spPr>
          <a:xfrm>
            <a:off x="571500" y="1433215"/>
            <a:ext cx="8001000" cy="2291359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2"/>
          <p:cNvSpPr/>
          <p:nvPr/>
        </p:nvSpPr>
        <p:spPr>
          <a:xfrm>
            <a:off x="578643" y="1440358"/>
            <a:ext cx="969989" cy="455415"/>
          </a:xfrm>
          <a:prstGeom prst="rect">
            <a:avLst/>
          </a:prstGeom>
          <a:solidFill>
            <a:srgbClr val="0B3B24"/>
          </a:solidFill>
          <a:ln w="18288">
            <a:solidFill>
              <a:srgbClr val="0B3B24">
                <a:alpha val="30000"/>
              </a:srgbClr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3"/>
          <p:cNvSpPr txBox="1"/>
          <p:nvPr/>
        </p:nvSpPr>
        <p:spPr>
          <a:xfrm>
            <a:off x="578643" y="1428163"/>
            <a:ext cx="848832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70053" tIns="170053" rIns="170053" bIns="170053" anchor="ctr">
            <a:spAutoFit/>
          </a:bodyPr>
          <a:lstStyle>
            <a:lvl1pPr>
              <a:defRPr b="1" spc="1" sz="900">
                <a:solidFill>
                  <a:srgbClr val="E0F2E9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55" name="Shape 4"/>
          <p:cNvSpPr/>
          <p:nvPr/>
        </p:nvSpPr>
        <p:spPr>
          <a:xfrm>
            <a:off x="1541905" y="1440358"/>
            <a:ext cx="3391524" cy="455415"/>
          </a:xfrm>
          <a:prstGeom prst="rect">
            <a:avLst/>
          </a:prstGeom>
          <a:solidFill>
            <a:srgbClr val="0B3B24"/>
          </a:solidFill>
          <a:ln w="18288">
            <a:solidFill>
              <a:srgbClr val="0B3B24">
                <a:alpha val="30000"/>
              </a:srgbClr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5"/>
          <p:cNvSpPr txBox="1"/>
          <p:nvPr/>
        </p:nvSpPr>
        <p:spPr>
          <a:xfrm>
            <a:off x="1541905" y="1428163"/>
            <a:ext cx="3391524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b="1" spc="1" sz="900">
                <a:solidFill>
                  <a:srgbClr val="E0F2E9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57" name="Shape 6"/>
          <p:cNvSpPr/>
          <p:nvPr/>
        </p:nvSpPr>
        <p:spPr>
          <a:xfrm>
            <a:off x="4929968" y="1440358"/>
            <a:ext cx="3635388" cy="455415"/>
          </a:xfrm>
          <a:prstGeom prst="rect">
            <a:avLst/>
          </a:prstGeom>
          <a:solidFill>
            <a:srgbClr val="0B3B24"/>
          </a:solidFill>
          <a:ln w="18288">
            <a:solidFill>
              <a:srgbClr val="0B3B24">
                <a:alpha val="30000"/>
              </a:srgbClr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7"/>
          <p:cNvSpPr txBox="1"/>
          <p:nvPr/>
        </p:nvSpPr>
        <p:spPr>
          <a:xfrm>
            <a:off x="4929968" y="1428163"/>
            <a:ext cx="3635388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b="1" spc="1" sz="900">
                <a:solidFill>
                  <a:srgbClr val="E0F2E9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FIT FOR POLICYCITE</a:t>
            </a:r>
          </a:p>
        </p:txBody>
      </p:sp>
      <p:sp>
        <p:nvSpPr>
          <p:cNvPr id="59" name="Text 8"/>
          <p:cNvSpPr txBox="1"/>
          <p:nvPr/>
        </p:nvSpPr>
        <p:spPr>
          <a:xfrm>
            <a:off x="578643" y="1869288"/>
            <a:ext cx="797339" cy="479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70053" tIns="170053" rIns="170053" bIns="170053" anchor="ctr">
            <a:spAutoFit/>
          </a:bodyPr>
          <a:lstStyle>
            <a:lvl1pPr>
              <a:defRPr b="1" sz="9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MedCite</a:t>
            </a:r>
          </a:p>
        </p:txBody>
      </p:sp>
      <p:sp>
        <p:nvSpPr>
          <p:cNvPr id="60" name="Text 9"/>
          <p:cNvSpPr txBox="1"/>
          <p:nvPr/>
        </p:nvSpPr>
        <p:spPr>
          <a:xfrm>
            <a:off x="1535209" y="1869288"/>
            <a:ext cx="3394760" cy="479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Statement-level citations &amp; multi-pass retrieval</a:t>
            </a:r>
          </a:p>
        </p:txBody>
      </p:sp>
      <p:sp>
        <p:nvSpPr>
          <p:cNvPr id="61" name="Text 10"/>
          <p:cNvSpPr txBox="1"/>
          <p:nvPr/>
        </p:nvSpPr>
        <p:spPr>
          <a:xfrm>
            <a:off x="4929968" y="1869288"/>
            <a:ext cx="3635388" cy="479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High: Matches need for granular evidence</a:t>
            </a:r>
          </a:p>
        </p:txBody>
      </p:sp>
      <p:sp>
        <p:nvSpPr>
          <p:cNvPr id="62" name="Text 11"/>
          <p:cNvSpPr txBox="1"/>
          <p:nvPr/>
        </p:nvSpPr>
        <p:spPr>
          <a:xfrm>
            <a:off x="578643" y="2324703"/>
            <a:ext cx="854489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70053" tIns="170053" rIns="170053" bIns="170053" anchor="ctr">
            <a:spAutoFit/>
          </a:bodyPr>
          <a:lstStyle>
            <a:lvl1pPr>
              <a:defRPr b="1" sz="9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Self-RAG</a:t>
            </a:r>
          </a:p>
        </p:txBody>
      </p:sp>
      <p:sp>
        <p:nvSpPr>
          <p:cNvPr id="63" name="Text 12"/>
          <p:cNvSpPr txBox="1"/>
          <p:nvPr/>
        </p:nvSpPr>
        <p:spPr>
          <a:xfrm>
            <a:off x="1535209" y="2324703"/>
            <a:ext cx="3394760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Adaptive retrieval and self-critique</a:t>
            </a:r>
          </a:p>
        </p:txBody>
      </p:sp>
      <p:sp>
        <p:nvSpPr>
          <p:cNvPr id="64" name="Text 13"/>
          <p:cNvSpPr txBox="1"/>
          <p:nvPr/>
        </p:nvSpPr>
        <p:spPr>
          <a:xfrm>
            <a:off x="4929968" y="2324703"/>
            <a:ext cx="3635388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Medium: Risk of shared model blind spots</a:t>
            </a:r>
          </a:p>
        </p:txBody>
      </p:sp>
      <p:sp>
        <p:nvSpPr>
          <p:cNvPr id="65" name="Text 14"/>
          <p:cNvSpPr txBox="1"/>
          <p:nvPr/>
        </p:nvSpPr>
        <p:spPr>
          <a:xfrm>
            <a:off x="578643" y="2780117"/>
            <a:ext cx="689345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70053" tIns="170053" rIns="170053" bIns="170053" anchor="ctr">
            <a:spAutoFit/>
          </a:bodyPr>
          <a:lstStyle>
            <a:lvl1pPr>
              <a:defRPr b="1" sz="9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CRAG</a:t>
            </a:r>
          </a:p>
        </p:txBody>
      </p:sp>
      <p:sp>
        <p:nvSpPr>
          <p:cNvPr id="66" name="Text 15"/>
          <p:cNvSpPr txBox="1"/>
          <p:nvPr/>
        </p:nvSpPr>
        <p:spPr>
          <a:xfrm>
            <a:off x="1535209" y="2780117"/>
            <a:ext cx="3394760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Correct weak retrieval via evaluation</a:t>
            </a:r>
          </a:p>
        </p:txBody>
      </p:sp>
      <p:sp>
        <p:nvSpPr>
          <p:cNvPr id="67" name="Text 16"/>
          <p:cNvSpPr txBox="1"/>
          <p:nvPr/>
        </p:nvSpPr>
        <p:spPr>
          <a:xfrm>
            <a:off x="4929968" y="2780117"/>
            <a:ext cx="3635388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Medium: Triggers correction when evidence is low</a:t>
            </a:r>
          </a:p>
        </p:txBody>
      </p:sp>
      <p:sp>
        <p:nvSpPr>
          <p:cNvPr id="68" name="Text 17"/>
          <p:cNvSpPr txBox="1"/>
          <p:nvPr/>
        </p:nvSpPr>
        <p:spPr>
          <a:xfrm>
            <a:off x="578643" y="3235530"/>
            <a:ext cx="682983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70053" tIns="170053" rIns="170053" bIns="170053" anchor="ctr">
            <a:spAutoFit/>
          </a:bodyPr>
          <a:lstStyle>
            <a:lvl1pPr>
              <a:defRPr b="1" sz="9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RARR</a:t>
            </a:r>
          </a:p>
        </p:txBody>
      </p:sp>
      <p:sp>
        <p:nvSpPr>
          <p:cNvPr id="69" name="Text 18"/>
          <p:cNvSpPr txBox="1"/>
          <p:nvPr/>
        </p:nvSpPr>
        <p:spPr>
          <a:xfrm>
            <a:off x="1535209" y="3235530"/>
            <a:ext cx="3394760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Research and revise unsupported text</a:t>
            </a:r>
          </a:p>
        </p:txBody>
      </p:sp>
      <p:sp>
        <p:nvSpPr>
          <p:cNvPr id="70" name="Text 19"/>
          <p:cNvSpPr txBox="1"/>
          <p:nvPr/>
        </p:nvSpPr>
        <p:spPr>
          <a:xfrm>
            <a:off x="4929968" y="3235530"/>
            <a:ext cx="3635388" cy="47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 anchor="ctr">
            <a:spAutoFit/>
          </a:bodyPr>
          <a:lstStyle>
            <a:lvl1pPr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Low: May hide original generation failures</a:t>
            </a:r>
          </a:p>
        </p:txBody>
      </p:sp>
      <p:sp>
        <p:nvSpPr>
          <p:cNvPr id="71" name="Text 20"/>
          <p:cNvSpPr txBox="1"/>
          <p:nvPr/>
        </p:nvSpPr>
        <p:spPr>
          <a:xfrm>
            <a:off x="571500" y="4167485"/>
            <a:ext cx="80010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Opportunity: A Governed Evidence Layer</a:t>
            </a:r>
          </a:p>
        </p:txBody>
      </p:sp>
      <p:sp>
        <p:nvSpPr>
          <p:cNvPr id="72" name="Text 21"/>
          <p:cNvSpPr txBox="1"/>
          <p:nvPr/>
        </p:nvSpPr>
        <p:spPr>
          <a:xfrm>
            <a:off x="571500" y="4503241"/>
            <a:ext cx="8001000" cy="318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Cotiviti can combine these methods with </a:t>
            </a:r>
            <a:r>
              <a:rPr b="1"/>
              <a:t>approved sources</a:t>
            </a:r>
            <a:r>
              <a:t>, </a:t>
            </a:r>
            <a:r>
              <a:rPr b="1"/>
              <a:t>version metadata</a:t>
            </a:r>
            <a:r>
              <a:t>, and </a:t>
            </a:r>
            <a:r>
              <a:rPr b="1"/>
              <a:t>audit records</a:t>
            </a:r>
            <a:r>
              <a:t>. This ensures that every AI response is grounded in a verifiable, human-governed evidence layer.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5862" y="0"/>
            <a:ext cx="5612276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ext 0"/>
          <p:cNvSpPr txBox="1"/>
          <p:nvPr/>
        </p:nvSpPr>
        <p:spPr>
          <a:xfrm>
            <a:off x="741552" y="574625"/>
            <a:ext cx="840244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MEDCITE: A VALIDATED FOUNDATION</a:t>
            </a:r>
          </a:p>
        </p:txBody>
      </p:sp>
      <p:pic>
        <p:nvPicPr>
          <p:cNvPr id="7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043879"/>
            <a:ext cx="128588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Text 1"/>
          <p:cNvSpPr txBox="1"/>
          <p:nvPr/>
        </p:nvSpPr>
        <p:spPr>
          <a:xfrm>
            <a:off x="842962" y="1032271"/>
            <a:ext cx="18930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i="1" sz="800">
                <a:solidFill>
                  <a:srgbClr val="0B3B2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Published in </a:t>
            </a:r>
            <a:r>
              <a:rPr b="1">
                <a:latin typeface="Inter Bold"/>
                <a:ea typeface="Inter Bold"/>
                <a:cs typeface="Inter Bold"/>
                <a:sym typeface="Inter Bold"/>
              </a:rPr>
              <a:t>Findings of ACL 2025</a:t>
            </a:r>
          </a:p>
        </p:txBody>
      </p:sp>
      <p:sp>
        <p:nvSpPr>
          <p:cNvPr id="80" name="Shape 2"/>
          <p:cNvSpPr/>
          <p:nvPr/>
        </p:nvSpPr>
        <p:spPr>
          <a:xfrm>
            <a:off x="2878931" y="1004590"/>
            <a:ext cx="2451758" cy="192882"/>
          </a:xfrm>
          <a:prstGeom prst="rect">
            <a:avLst/>
          </a:prstGeom>
          <a:solidFill>
            <a:srgbClr val="0B3B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3"/>
          <p:cNvSpPr txBox="1"/>
          <p:nvPr/>
        </p:nvSpPr>
        <p:spPr>
          <a:xfrm>
            <a:off x="2947003" y="1004590"/>
            <a:ext cx="2315614" cy="169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036" tIns="34036" rIns="34036" bIns="34036">
            <a:spAutoFit/>
          </a:bodyPr>
          <a:lstStyle>
            <a:lvl1pPr>
              <a:defRPr sz="700">
                <a:solidFill>
                  <a:srgbClr val="E0F2E9"/>
                </a:solidFill>
                <a:latin typeface="monospace"/>
                <a:ea typeface="monospace"/>
                <a:cs typeface="monospace"/>
                <a:sym typeface="monospace"/>
              </a:defRPr>
            </a:lvl1pPr>
          </a:lstStyle>
          <a:p>
            <a:pPr/>
            <a:r>
              <a:t>DOI: 10.18653/v1/2025.findings-acl.967</a:t>
            </a:r>
          </a:p>
        </p:txBody>
      </p:sp>
      <p:pic>
        <p:nvPicPr>
          <p:cNvPr id="8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1515367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Text 4"/>
          <p:cNvSpPr txBox="1"/>
          <p:nvPr/>
        </p:nvSpPr>
        <p:spPr>
          <a:xfrm>
            <a:off x="785812" y="1483220"/>
            <a:ext cx="159305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Core Contributions</a:t>
            </a:r>
          </a:p>
        </p:txBody>
      </p:sp>
      <p:sp>
        <p:nvSpPr>
          <p:cNvPr id="84" name="Shape 5"/>
          <p:cNvSpPr/>
          <p:nvPr/>
        </p:nvSpPr>
        <p:spPr>
          <a:xfrm>
            <a:off x="571500" y="1904701"/>
            <a:ext cx="57150" cy="57151"/>
          </a:xfrm>
          <a:prstGeom prst="ellipse">
            <a:avLst/>
          </a:prstGeom>
          <a:solidFill>
            <a:srgbClr val="0B3B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6"/>
          <p:cNvSpPr txBox="1"/>
          <p:nvPr/>
        </p:nvSpPr>
        <p:spPr>
          <a:xfrm>
            <a:off x="750093" y="1833265"/>
            <a:ext cx="127005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End-to-End Framework</a:t>
            </a:r>
          </a:p>
        </p:txBody>
      </p:sp>
      <p:sp>
        <p:nvSpPr>
          <p:cNvPr id="86" name="Text 7"/>
          <p:cNvSpPr txBox="1"/>
          <p:nvPr/>
        </p:nvSpPr>
        <p:spPr>
          <a:xfrm>
            <a:off x="750093" y="2044005"/>
            <a:ext cx="28149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 comprehensive method for generating and evaluating</a:t>
            </a:r>
          </a:p>
        </p:txBody>
      </p:sp>
      <p:sp>
        <p:nvSpPr>
          <p:cNvPr id="87" name="Text 8"/>
          <p:cNvSpPr txBox="1"/>
          <p:nvPr/>
        </p:nvSpPr>
        <p:spPr>
          <a:xfrm>
            <a:off x="750093" y="2236886"/>
            <a:ext cx="182330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medical citations in LLM responses.</a:t>
            </a:r>
          </a:p>
        </p:txBody>
      </p:sp>
      <p:sp>
        <p:nvSpPr>
          <p:cNvPr id="88" name="Shape 9"/>
          <p:cNvSpPr/>
          <p:nvPr/>
        </p:nvSpPr>
        <p:spPr>
          <a:xfrm>
            <a:off x="571500" y="2661940"/>
            <a:ext cx="57150" cy="57151"/>
          </a:xfrm>
          <a:prstGeom prst="ellipse">
            <a:avLst/>
          </a:prstGeom>
          <a:solidFill>
            <a:srgbClr val="0B3B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0"/>
          <p:cNvSpPr txBox="1"/>
          <p:nvPr/>
        </p:nvSpPr>
        <p:spPr>
          <a:xfrm>
            <a:off x="750093" y="2590501"/>
            <a:ext cx="10989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Multi-Pass Retrieval</a:t>
            </a:r>
          </a:p>
        </p:txBody>
      </p:sp>
      <p:sp>
        <p:nvSpPr>
          <p:cNvPr id="90" name="Text 11"/>
          <p:cNvSpPr txBox="1"/>
          <p:nvPr/>
        </p:nvSpPr>
        <p:spPr>
          <a:xfrm>
            <a:off x="750094" y="2801242"/>
            <a:ext cx="283336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Iterative search strategy that improves citation precision</a:t>
            </a:r>
          </a:p>
        </p:txBody>
      </p:sp>
      <p:sp>
        <p:nvSpPr>
          <p:cNvPr id="91" name="Text 12"/>
          <p:cNvSpPr txBox="1"/>
          <p:nvPr/>
        </p:nvSpPr>
        <p:spPr>
          <a:xfrm>
            <a:off x="750093" y="2994124"/>
            <a:ext cx="165827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and recall over strong baselines.</a:t>
            </a:r>
          </a:p>
        </p:txBody>
      </p:sp>
      <p:sp>
        <p:nvSpPr>
          <p:cNvPr id="92" name="Shape 13"/>
          <p:cNvSpPr/>
          <p:nvPr/>
        </p:nvSpPr>
        <p:spPr>
          <a:xfrm>
            <a:off x="571500" y="3419176"/>
            <a:ext cx="57150" cy="57151"/>
          </a:xfrm>
          <a:prstGeom prst="ellipse">
            <a:avLst/>
          </a:prstGeom>
          <a:solidFill>
            <a:srgbClr val="0B3B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4"/>
          <p:cNvSpPr txBox="1"/>
          <p:nvPr/>
        </p:nvSpPr>
        <p:spPr>
          <a:xfrm>
            <a:off x="750093" y="3347739"/>
            <a:ext cx="95478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Expert Alignment</a:t>
            </a:r>
          </a:p>
        </p:txBody>
      </p:sp>
      <p:sp>
        <p:nvSpPr>
          <p:cNvPr id="94" name="Text 15"/>
          <p:cNvSpPr txBox="1"/>
          <p:nvPr/>
        </p:nvSpPr>
        <p:spPr>
          <a:xfrm>
            <a:off x="750093" y="3558480"/>
            <a:ext cx="294147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Evaluation results correlate strongly with annotations from</a:t>
            </a:r>
          </a:p>
        </p:txBody>
      </p:sp>
      <p:sp>
        <p:nvSpPr>
          <p:cNvPr id="95" name="Text 16"/>
          <p:cNvSpPr txBox="1"/>
          <p:nvPr/>
        </p:nvSpPr>
        <p:spPr>
          <a:xfrm>
            <a:off x="750093" y="3751362"/>
            <a:ext cx="14929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professional medical experts.</a:t>
            </a:r>
          </a:p>
        </p:txBody>
      </p:sp>
      <p:pic>
        <p:nvPicPr>
          <p:cNvPr id="96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86312" y="1515367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17"/>
          <p:cNvSpPr txBox="1"/>
          <p:nvPr/>
        </p:nvSpPr>
        <p:spPr>
          <a:xfrm>
            <a:off x="5000625" y="1483220"/>
            <a:ext cx="18162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Fit for PolicyCite-RAG</a:t>
            </a:r>
          </a:p>
        </p:txBody>
      </p:sp>
      <p:sp>
        <p:nvSpPr>
          <p:cNvPr id="98" name="Shape 18"/>
          <p:cNvSpPr/>
          <p:nvPr/>
        </p:nvSpPr>
        <p:spPr>
          <a:xfrm>
            <a:off x="4786312" y="1904701"/>
            <a:ext cx="57151" cy="57151"/>
          </a:xfrm>
          <a:prstGeom prst="ellipse">
            <a:avLst/>
          </a:prstGeom>
          <a:solidFill>
            <a:srgbClr val="0B3B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9"/>
          <p:cNvSpPr txBox="1"/>
          <p:nvPr/>
        </p:nvSpPr>
        <p:spPr>
          <a:xfrm>
            <a:off x="4964905" y="1833265"/>
            <a:ext cx="142928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Statement-Level Evidence</a:t>
            </a:r>
          </a:p>
        </p:txBody>
      </p:sp>
      <p:sp>
        <p:nvSpPr>
          <p:cNvPr id="100" name="Text 20"/>
          <p:cNvSpPr txBox="1"/>
          <p:nvPr/>
        </p:nvSpPr>
        <p:spPr>
          <a:xfrm>
            <a:off x="4964905" y="2044005"/>
            <a:ext cx="274457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Directly addresses the need for granular verification in</a:t>
            </a:r>
          </a:p>
        </p:txBody>
      </p:sp>
      <p:sp>
        <p:nvSpPr>
          <p:cNvPr id="101" name="Text 21"/>
          <p:cNvSpPr txBox="1"/>
          <p:nvPr/>
        </p:nvSpPr>
        <p:spPr>
          <a:xfrm>
            <a:off x="4964905" y="2236886"/>
            <a:ext cx="136393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healthcare payment policy.</a:t>
            </a:r>
          </a:p>
        </p:txBody>
      </p:sp>
      <p:sp>
        <p:nvSpPr>
          <p:cNvPr id="102" name="Shape 22"/>
          <p:cNvSpPr/>
          <p:nvPr/>
        </p:nvSpPr>
        <p:spPr>
          <a:xfrm>
            <a:off x="4786312" y="2661940"/>
            <a:ext cx="57151" cy="57151"/>
          </a:xfrm>
          <a:prstGeom prst="ellipse">
            <a:avLst/>
          </a:prstGeom>
          <a:solidFill>
            <a:srgbClr val="0B3B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23"/>
          <p:cNvSpPr txBox="1"/>
          <p:nvPr/>
        </p:nvSpPr>
        <p:spPr>
          <a:xfrm>
            <a:off x="4964905" y="2590501"/>
            <a:ext cx="9737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Metric Adaptation</a:t>
            </a:r>
          </a:p>
        </p:txBody>
      </p:sp>
      <p:sp>
        <p:nvSpPr>
          <p:cNvPr id="104" name="Text 24"/>
          <p:cNvSpPr txBox="1"/>
          <p:nvPr/>
        </p:nvSpPr>
        <p:spPr>
          <a:xfrm>
            <a:off x="4964905" y="2801242"/>
            <a:ext cx="287444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MedCite's attribution and citation metrics are adapted for</a:t>
            </a:r>
          </a:p>
        </p:txBody>
      </p:sp>
      <p:sp>
        <p:nvSpPr>
          <p:cNvPr id="105" name="Text 25"/>
          <p:cNvSpPr txBox="1"/>
          <p:nvPr/>
        </p:nvSpPr>
        <p:spPr>
          <a:xfrm>
            <a:off x="4964905" y="2994124"/>
            <a:ext cx="118790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the CMS policy corpus.</a:t>
            </a:r>
          </a:p>
        </p:txBody>
      </p:sp>
      <p:sp>
        <p:nvSpPr>
          <p:cNvPr id="106" name="Shape 26"/>
          <p:cNvSpPr/>
          <p:nvPr/>
        </p:nvSpPr>
        <p:spPr>
          <a:xfrm>
            <a:off x="4786312" y="3419176"/>
            <a:ext cx="57151" cy="57151"/>
          </a:xfrm>
          <a:prstGeom prst="ellipse">
            <a:avLst/>
          </a:prstGeom>
          <a:solidFill>
            <a:srgbClr val="0B3B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27"/>
          <p:cNvSpPr txBox="1"/>
          <p:nvPr/>
        </p:nvSpPr>
        <p:spPr>
          <a:xfrm>
            <a:off x="4964905" y="3347739"/>
            <a:ext cx="114336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Research Inspiration</a:t>
            </a:r>
          </a:p>
        </p:txBody>
      </p:sp>
      <p:sp>
        <p:nvSpPr>
          <p:cNvPr id="108" name="Text 28"/>
          <p:cNvSpPr txBox="1"/>
          <p:nvPr/>
        </p:nvSpPr>
        <p:spPr>
          <a:xfrm>
            <a:off x="4964905" y="3558480"/>
            <a:ext cx="26939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Provides a credible, peer-reviewed foundation for the</a:t>
            </a:r>
          </a:p>
        </p:txBody>
      </p:sp>
      <p:sp>
        <p:nvSpPr>
          <p:cNvPr id="109" name="Text 29"/>
          <p:cNvSpPr txBox="1"/>
          <p:nvPr/>
        </p:nvSpPr>
        <p:spPr>
          <a:xfrm>
            <a:off x="4964905" y="3751362"/>
            <a:ext cx="148291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POC's technical architecture.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 0"/>
          <p:cNvSpPr txBox="1"/>
          <p:nvPr/>
        </p:nvSpPr>
        <p:spPr>
          <a:xfrm>
            <a:off x="741552" y="574625"/>
            <a:ext cx="840244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 TRANSPARENT TECHNICAL ARCHITECTURE</a:t>
            </a:r>
          </a:p>
        </p:txBody>
      </p:sp>
      <p:sp>
        <p:nvSpPr>
          <p:cNvPr id="113" name="Text 1"/>
          <p:cNvSpPr txBox="1"/>
          <p:nvPr/>
        </p:nvSpPr>
        <p:spPr>
          <a:xfrm>
            <a:off x="571500" y="1590376"/>
            <a:ext cx="2476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6B35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CORPUS &amp; RETRIEVAL</a:t>
            </a:r>
          </a:p>
        </p:txBody>
      </p:sp>
      <p:pic>
        <p:nvPicPr>
          <p:cNvPr id="11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897558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 2"/>
          <p:cNvSpPr txBox="1"/>
          <p:nvPr/>
        </p:nvSpPr>
        <p:spPr>
          <a:xfrm>
            <a:off x="785812" y="1883271"/>
            <a:ext cx="118410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CMS Policy Corpus</a:t>
            </a:r>
          </a:p>
        </p:txBody>
      </p:sp>
      <p:sp>
        <p:nvSpPr>
          <p:cNvPr id="116" name="Text 3"/>
          <p:cNvSpPr txBox="1"/>
          <p:nvPr/>
        </p:nvSpPr>
        <p:spPr>
          <a:xfrm>
            <a:off x="571499" y="2110084"/>
            <a:ext cx="202020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Three public CMS documents stored as</a:t>
            </a:r>
          </a:p>
        </p:txBody>
      </p:sp>
      <p:sp>
        <p:nvSpPr>
          <p:cNvPr id="117" name="Text 4"/>
          <p:cNvSpPr txBox="1"/>
          <p:nvPr/>
        </p:nvSpPr>
        <p:spPr>
          <a:xfrm>
            <a:off x="571500" y="2290102"/>
            <a:ext cx="4128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JSONL.</a:t>
            </a:r>
          </a:p>
        </p:txBody>
      </p:sp>
      <p:pic>
        <p:nvPicPr>
          <p:cNvPr id="11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2664785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 5"/>
          <p:cNvSpPr txBox="1"/>
          <p:nvPr/>
        </p:nvSpPr>
        <p:spPr>
          <a:xfrm>
            <a:off x="785812" y="2650499"/>
            <a:ext cx="9867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Hybrid Retrieval</a:t>
            </a:r>
          </a:p>
        </p:txBody>
      </p:sp>
      <p:sp>
        <p:nvSpPr>
          <p:cNvPr id="120" name="Text 6"/>
          <p:cNvSpPr txBox="1"/>
          <p:nvPr/>
        </p:nvSpPr>
        <p:spPr>
          <a:xfrm>
            <a:off x="571499" y="2877312"/>
            <a:ext cx="20805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FAISS (Dense) + BM25 (Lexical) for high</a:t>
            </a:r>
          </a:p>
        </p:txBody>
      </p:sp>
      <p:sp>
        <p:nvSpPr>
          <p:cNvPr id="121" name="Text 7"/>
          <p:cNvSpPr txBox="1"/>
          <p:nvPr/>
        </p:nvSpPr>
        <p:spPr>
          <a:xfrm>
            <a:off x="571500" y="3057330"/>
            <a:ext cx="3175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recall.</a:t>
            </a:r>
          </a:p>
        </p:txBody>
      </p:sp>
      <p:pic>
        <p:nvPicPr>
          <p:cNvPr id="12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432014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8"/>
          <p:cNvSpPr txBox="1"/>
          <p:nvPr/>
        </p:nvSpPr>
        <p:spPr>
          <a:xfrm>
            <a:off x="785812" y="3417725"/>
            <a:ext cx="96513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RRF Integration</a:t>
            </a:r>
          </a:p>
        </p:txBody>
      </p:sp>
      <p:sp>
        <p:nvSpPr>
          <p:cNvPr id="124" name="Text 9"/>
          <p:cNvSpPr txBox="1"/>
          <p:nvPr/>
        </p:nvSpPr>
        <p:spPr>
          <a:xfrm>
            <a:off x="571499" y="3644539"/>
            <a:ext cx="1912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Reciprocal Rank Fusion for optimized</a:t>
            </a:r>
          </a:p>
        </p:txBody>
      </p:sp>
      <p:sp>
        <p:nvSpPr>
          <p:cNvPr id="125" name="Text 10"/>
          <p:cNvSpPr txBox="1"/>
          <p:nvPr/>
        </p:nvSpPr>
        <p:spPr>
          <a:xfrm>
            <a:off x="571500" y="3824556"/>
            <a:ext cx="41933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ranking.</a:t>
            </a:r>
          </a:p>
        </p:txBody>
      </p:sp>
      <p:sp>
        <p:nvSpPr>
          <p:cNvPr id="126" name="Text 11"/>
          <p:cNvSpPr txBox="1"/>
          <p:nvPr/>
        </p:nvSpPr>
        <p:spPr>
          <a:xfrm>
            <a:off x="3333731" y="1590376"/>
            <a:ext cx="24765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6B35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APPLICATION LAYER</a:t>
            </a:r>
          </a:p>
        </p:txBody>
      </p:sp>
      <p:pic>
        <p:nvPicPr>
          <p:cNvPr id="127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333731" y="1897558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ext 12"/>
          <p:cNvSpPr txBox="1"/>
          <p:nvPr/>
        </p:nvSpPr>
        <p:spPr>
          <a:xfrm>
            <a:off x="3548043" y="1883271"/>
            <a:ext cx="125467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Local LLMs (Ollama)</a:t>
            </a:r>
          </a:p>
        </p:txBody>
      </p:sp>
      <p:sp>
        <p:nvSpPr>
          <p:cNvPr id="129" name="Text 13"/>
          <p:cNvSpPr txBox="1"/>
          <p:nvPr/>
        </p:nvSpPr>
        <p:spPr>
          <a:xfrm>
            <a:off x="3333731" y="2110084"/>
            <a:ext cx="205218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Llama 3.2 (1B) for generation; Qwen 2.5</a:t>
            </a:r>
          </a:p>
        </p:txBody>
      </p:sp>
      <p:sp>
        <p:nvSpPr>
          <p:cNvPr id="130" name="Text 14"/>
          <p:cNvSpPr txBox="1"/>
          <p:nvPr/>
        </p:nvSpPr>
        <p:spPr>
          <a:xfrm>
            <a:off x="3333731" y="2290102"/>
            <a:ext cx="705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(3B) for audit.</a:t>
            </a:r>
          </a:p>
        </p:txBody>
      </p:sp>
      <p:pic>
        <p:nvPicPr>
          <p:cNvPr id="131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333731" y="2664785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 15"/>
          <p:cNvSpPr txBox="1"/>
          <p:nvPr/>
        </p:nvSpPr>
        <p:spPr>
          <a:xfrm>
            <a:off x="3548043" y="2650499"/>
            <a:ext cx="105021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FastAPI Backend</a:t>
            </a:r>
          </a:p>
        </p:txBody>
      </p:sp>
      <p:sp>
        <p:nvSpPr>
          <p:cNvPr id="133" name="Text 16"/>
          <p:cNvSpPr txBox="1"/>
          <p:nvPr/>
        </p:nvSpPr>
        <p:spPr>
          <a:xfrm>
            <a:off x="3333731" y="2877312"/>
            <a:ext cx="181080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Exposes baseline and cited-answer</a:t>
            </a:r>
          </a:p>
        </p:txBody>
      </p:sp>
      <p:sp>
        <p:nvSpPr>
          <p:cNvPr id="134" name="Text 17"/>
          <p:cNvSpPr txBox="1"/>
          <p:nvPr/>
        </p:nvSpPr>
        <p:spPr>
          <a:xfrm>
            <a:off x="3333731" y="3057330"/>
            <a:ext cx="32406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paths.</a:t>
            </a:r>
          </a:p>
        </p:txBody>
      </p:sp>
      <p:pic>
        <p:nvPicPr>
          <p:cNvPr id="135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333731" y="3432014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 18"/>
          <p:cNvSpPr txBox="1"/>
          <p:nvPr/>
        </p:nvSpPr>
        <p:spPr>
          <a:xfrm>
            <a:off x="3548043" y="3417725"/>
            <a:ext cx="71845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Streamlit UI</a:t>
            </a:r>
          </a:p>
        </p:txBody>
      </p:sp>
      <p:sp>
        <p:nvSpPr>
          <p:cNvPr id="137" name="Text 19"/>
          <p:cNvSpPr txBox="1"/>
          <p:nvPr/>
        </p:nvSpPr>
        <p:spPr>
          <a:xfrm>
            <a:off x="3333731" y="3644539"/>
            <a:ext cx="145501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Live dashboard for audit trail</a:t>
            </a:r>
          </a:p>
        </p:txBody>
      </p:sp>
      <p:sp>
        <p:nvSpPr>
          <p:cNvPr id="138" name="Text 20"/>
          <p:cNvSpPr txBox="1"/>
          <p:nvPr/>
        </p:nvSpPr>
        <p:spPr>
          <a:xfrm>
            <a:off x="3333731" y="3824556"/>
            <a:ext cx="6670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visualization.</a:t>
            </a:r>
          </a:p>
        </p:txBody>
      </p:sp>
      <p:sp>
        <p:nvSpPr>
          <p:cNvPr id="139" name="Text 21"/>
          <p:cNvSpPr txBox="1"/>
          <p:nvPr/>
        </p:nvSpPr>
        <p:spPr>
          <a:xfrm>
            <a:off x="6095991" y="1590376"/>
            <a:ext cx="2476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6B35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AUDIT CONTROLS</a:t>
            </a:r>
          </a:p>
        </p:txBody>
      </p:sp>
      <p:pic>
        <p:nvPicPr>
          <p:cNvPr id="140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095991" y="1897558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 22"/>
          <p:cNvSpPr txBox="1"/>
          <p:nvPr/>
        </p:nvSpPr>
        <p:spPr>
          <a:xfrm>
            <a:off x="6310302" y="1883271"/>
            <a:ext cx="142433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Provenance Separation</a:t>
            </a:r>
          </a:p>
        </p:txBody>
      </p:sp>
      <p:sp>
        <p:nvSpPr>
          <p:cNvPr id="142" name="Text 23"/>
          <p:cNvSpPr txBox="1"/>
          <p:nvPr/>
        </p:nvSpPr>
        <p:spPr>
          <a:xfrm>
            <a:off x="6095991" y="2110084"/>
            <a:ext cx="19190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Generation and audit evidence stored</a:t>
            </a:r>
          </a:p>
        </p:txBody>
      </p:sp>
      <p:sp>
        <p:nvSpPr>
          <p:cNvPr id="143" name="Text 24"/>
          <p:cNvSpPr txBox="1"/>
          <p:nvPr/>
        </p:nvSpPr>
        <p:spPr>
          <a:xfrm>
            <a:off x="6095991" y="2290102"/>
            <a:ext cx="7478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independently.</a:t>
            </a:r>
          </a:p>
        </p:txBody>
      </p:sp>
      <p:pic>
        <p:nvPicPr>
          <p:cNvPr id="144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095991" y="2664785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ext 25"/>
          <p:cNvSpPr txBox="1"/>
          <p:nvPr/>
        </p:nvSpPr>
        <p:spPr>
          <a:xfrm>
            <a:off x="6310302" y="2650499"/>
            <a:ext cx="9374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Binary Verdicts</a:t>
            </a:r>
          </a:p>
        </p:txBody>
      </p:sp>
      <p:sp>
        <p:nvSpPr>
          <p:cNvPr id="146" name="Text 26"/>
          <p:cNvSpPr txBox="1"/>
          <p:nvPr/>
        </p:nvSpPr>
        <p:spPr>
          <a:xfrm>
            <a:off x="6095991" y="2877312"/>
            <a:ext cx="16644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Deterministic support/no-support</a:t>
            </a:r>
          </a:p>
        </p:txBody>
      </p:sp>
      <p:sp>
        <p:nvSpPr>
          <p:cNvPr id="147" name="Text 27"/>
          <p:cNvSpPr txBox="1"/>
          <p:nvPr/>
        </p:nvSpPr>
        <p:spPr>
          <a:xfrm>
            <a:off x="6095991" y="3057330"/>
            <a:ext cx="69241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classification.</a:t>
            </a:r>
          </a:p>
        </p:txBody>
      </p:sp>
      <p:pic>
        <p:nvPicPr>
          <p:cNvPr id="148" name="Image 9" descr="Image 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095991" y="3432014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 28"/>
          <p:cNvSpPr txBox="1"/>
          <p:nvPr/>
        </p:nvSpPr>
        <p:spPr>
          <a:xfrm>
            <a:off x="6310302" y="3417725"/>
            <a:ext cx="9652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Review Routing</a:t>
            </a:r>
          </a:p>
        </p:txBody>
      </p:sp>
      <p:sp>
        <p:nvSpPr>
          <p:cNvPr id="150" name="Text 29"/>
          <p:cNvSpPr txBox="1"/>
          <p:nvPr/>
        </p:nvSpPr>
        <p:spPr>
          <a:xfrm>
            <a:off x="6095991" y="3644539"/>
            <a:ext cx="196322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Automated flags for human-in-the-loop</a:t>
            </a:r>
          </a:p>
        </p:txBody>
      </p:sp>
      <p:sp>
        <p:nvSpPr>
          <p:cNvPr id="151" name="Text 30"/>
          <p:cNvSpPr txBox="1"/>
          <p:nvPr/>
        </p:nvSpPr>
        <p:spPr>
          <a:xfrm>
            <a:off x="6095991" y="3824556"/>
            <a:ext cx="52738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validation.</a:t>
            </a:r>
          </a:p>
        </p:txBody>
      </p:sp>
      <p:sp>
        <p:nvSpPr>
          <p:cNvPr id="152" name="Text 31"/>
          <p:cNvSpPr txBox="1"/>
          <p:nvPr/>
        </p:nvSpPr>
        <p:spPr>
          <a:xfrm>
            <a:off x="571499" y="4729162"/>
            <a:ext cx="46523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0B3B24">
                    <a:alpha val="7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*Stack intentionally avoids complex agents to maintain a deterministic and inspectable audit trail.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 0"/>
          <p:cNvSpPr txBox="1"/>
          <p:nvPr/>
        </p:nvSpPr>
        <p:spPr>
          <a:xfrm>
            <a:off x="741552" y="574625"/>
            <a:ext cx="840244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SEPARATING GENERATION FROM PROVENANCE</a:t>
            </a:r>
          </a:p>
        </p:txBody>
      </p:sp>
      <p:sp>
        <p:nvSpPr>
          <p:cNvPr id="156" name="Shape 1"/>
          <p:cNvSpPr/>
          <p:nvPr/>
        </p:nvSpPr>
        <p:spPr>
          <a:xfrm>
            <a:off x="1128712" y="1576090"/>
            <a:ext cx="600076" cy="600076"/>
          </a:xfrm>
          <a:prstGeom prst="rect">
            <a:avLst/>
          </a:prstGeom>
          <a:solidFill>
            <a:srgbClr val="0B3B24"/>
          </a:solidFill>
          <a:ln w="18288">
            <a:solidFill>
              <a:srgbClr val="FF6B3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5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14450" y="1747540"/>
            <a:ext cx="228600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 2"/>
          <p:cNvSpPr txBox="1"/>
          <p:nvPr/>
        </p:nvSpPr>
        <p:spPr>
          <a:xfrm>
            <a:off x="935390" y="2290465"/>
            <a:ext cx="9867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Hybrid Retrieval</a:t>
            </a:r>
          </a:p>
        </p:txBody>
      </p:sp>
      <p:sp>
        <p:nvSpPr>
          <p:cNvPr id="159" name="Text 3"/>
          <p:cNvSpPr txBox="1"/>
          <p:nvPr/>
        </p:nvSpPr>
        <p:spPr>
          <a:xfrm>
            <a:off x="571500" y="2535138"/>
            <a:ext cx="17145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FAISS + BM25 search across CMS policy corpus.</a:t>
            </a:r>
          </a:p>
        </p:txBody>
      </p:sp>
      <p:sp>
        <p:nvSpPr>
          <p:cNvPr id="160" name="Shape 4"/>
          <p:cNvSpPr/>
          <p:nvPr/>
        </p:nvSpPr>
        <p:spPr>
          <a:xfrm>
            <a:off x="3224203" y="1576090"/>
            <a:ext cx="600076" cy="600076"/>
          </a:xfrm>
          <a:prstGeom prst="rect">
            <a:avLst/>
          </a:prstGeom>
          <a:solidFill>
            <a:srgbClr val="0B3B24"/>
          </a:solidFill>
          <a:ln w="18288">
            <a:solidFill>
              <a:srgbClr val="FF6B3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6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409941" y="1747540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 5"/>
          <p:cNvSpPr txBox="1"/>
          <p:nvPr/>
        </p:nvSpPr>
        <p:spPr>
          <a:xfrm>
            <a:off x="2869694" y="2290465"/>
            <a:ext cx="13090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Answer Generation</a:t>
            </a:r>
          </a:p>
        </p:txBody>
      </p:sp>
      <p:sp>
        <p:nvSpPr>
          <p:cNvPr id="163" name="Text 6"/>
          <p:cNvSpPr txBox="1"/>
          <p:nvPr/>
        </p:nvSpPr>
        <p:spPr>
          <a:xfrm>
            <a:off x="2666991" y="2535138"/>
            <a:ext cx="17145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Baseline answer created from initial passages.</a:t>
            </a:r>
          </a:p>
        </p:txBody>
      </p:sp>
      <p:sp>
        <p:nvSpPr>
          <p:cNvPr id="164" name="Shape 7"/>
          <p:cNvSpPr/>
          <p:nvPr/>
        </p:nvSpPr>
        <p:spPr>
          <a:xfrm>
            <a:off x="5319693" y="1576090"/>
            <a:ext cx="600076" cy="600076"/>
          </a:xfrm>
          <a:prstGeom prst="rect">
            <a:avLst/>
          </a:prstGeom>
          <a:solidFill>
            <a:srgbClr val="0B3B24"/>
          </a:solidFill>
          <a:ln w="18288">
            <a:solidFill>
              <a:srgbClr val="FF6B3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6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505431" y="1747540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ext 8"/>
          <p:cNvSpPr txBox="1"/>
          <p:nvPr/>
        </p:nvSpPr>
        <p:spPr>
          <a:xfrm>
            <a:off x="4908034" y="2290465"/>
            <a:ext cx="14233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Statement Extraction</a:t>
            </a:r>
          </a:p>
        </p:txBody>
      </p:sp>
      <p:sp>
        <p:nvSpPr>
          <p:cNvPr id="167" name="Text 9"/>
          <p:cNvSpPr txBox="1"/>
          <p:nvPr/>
        </p:nvSpPr>
        <p:spPr>
          <a:xfrm>
            <a:off x="4762481" y="2535138"/>
            <a:ext cx="17145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Answer parsed into individual factual claims.</a:t>
            </a:r>
          </a:p>
        </p:txBody>
      </p:sp>
      <p:sp>
        <p:nvSpPr>
          <p:cNvPr id="168" name="Shape 10"/>
          <p:cNvSpPr/>
          <p:nvPr/>
        </p:nvSpPr>
        <p:spPr>
          <a:xfrm>
            <a:off x="7415185" y="1576090"/>
            <a:ext cx="600076" cy="600076"/>
          </a:xfrm>
          <a:prstGeom prst="rect">
            <a:avLst/>
          </a:prstGeom>
          <a:solidFill>
            <a:srgbClr val="0B3B24"/>
          </a:solidFill>
          <a:ln w="18288">
            <a:solidFill>
              <a:srgbClr val="FF6B3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69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600922" y="1747540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11"/>
          <p:cNvSpPr txBox="1"/>
          <p:nvPr/>
        </p:nvSpPr>
        <p:spPr>
          <a:xfrm>
            <a:off x="7252496" y="2290465"/>
            <a:ext cx="92545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Evidence Audit</a:t>
            </a:r>
          </a:p>
        </p:txBody>
      </p:sp>
      <p:sp>
        <p:nvSpPr>
          <p:cNvPr id="171" name="Text 12"/>
          <p:cNvSpPr txBox="1"/>
          <p:nvPr/>
        </p:nvSpPr>
        <p:spPr>
          <a:xfrm>
            <a:off x="6857972" y="2535138"/>
            <a:ext cx="17145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Dedicated re-retrieval for each statement.</a:t>
            </a:r>
          </a:p>
        </p:txBody>
      </p:sp>
      <p:sp>
        <p:nvSpPr>
          <p:cNvPr id="172" name="Shape 13"/>
          <p:cNvSpPr/>
          <p:nvPr/>
        </p:nvSpPr>
        <p:spPr>
          <a:xfrm>
            <a:off x="0" y="3569530"/>
            <a:ext cx="9144000" cy="71147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14"/>
          <p:cNvSpPr/>
          <p:nvPr/>
        </p:nvSpPr>
        <p:spPr>
          <a:xfrm>
            <a:off x="0" y="3569530"/>
            <a:ext cx="9144000" cy="14289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15"/>
          <p:cNvSpPr txBox="1"/>
          <p:nvPr/>
        </p:nvSpPr>
        <p:spPr>
          <a:xfrm>
            <a:off x="571500" y="3855280"/>
            <a:ext cx="3857625" cy="318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b="1" sz="900">
                <a:solidFill>
                  <a:srgbClr val="FF6B35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Independent Verification:</a:t>
            </a:r>
            <a:r>
              <a:rPr b="0">
                <a:solidFill>
                  <a:srgbClr val="1A4D2E"/>
                </a:solidFill>
              </a:rPr>
              <a:t> Evidence retrieved after generation is stored separately to prevent mislabeling.</a:t>
            </a:r>
          </a:p>
        </p:txBody>
      </p:sp>
      <p:sp>
        <p:nvSpPr>
          <p:cNvPr id="175" name="Text 16"/>
          <p:cNvSpPr txBox="1"/>
          <p:nvPr/>
        </p:nvSpPr>
        <p:spPr>
          <a:xfrm>
            <a:off x="4714875" y="3855280"/>
            <a:ext cx="3857625" cy="318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b="1" sz="900">
                <a:solidFill>
                  <a:srgbClr val="FF6B35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Audit Provenance:</a:t>
            </a:r>
            <a:r>
              <a:rPr b="0">
                <a:solidFill>
                  <a:srgbClr val="1A4D2E"/>
                </a:solidFill>
              </a:rPr>
              <a:t> The system substantiates statements without confusing audit evidence with generation context.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 0"/>
          <p:cNvSpPr txBox="1"/>
          <p:nvPr/>
        </p:nvSpPr>
        <p:spPr>
          <a:xfrm>
            <a:off x="741552" y="574625"/>
            <a:ext cx="840244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RIGOROUS CITATION-ASSURANCE CONTROLS</a:t>
            </a:r>
          </a:p>
        </p:txBody>
      </p:sp>
      <p:pic>
        <p:nvPicPr>
          <p:cNvPr id="17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605558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 1"/>
          <p:cNvSpPr txBox="1"/>
          <p:nvPr/>
        </p:nvSpPr>
        <p:spPr>
          <a:xfrm>
            <a:off x="785812" y="1590376"/>
            <a:ext cx="160913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Deterministic Validation</a:t>
            </a:r>
          </a:p>
        </p:txBody>
      </p:sp>
      <p:pic>
        <p:nvPicPr>
          <p:cNvPr id="18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7250" y="1935063"/>
            <a:ext cx="85725" cy="85726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2"/>
          <p:cNvSpPr txBox="1"/>
          <p:nvPr/>
        </p:nvSpPr>
        <p:spPr>
          <a:xfrm>
            <a:off x="1014412" y="1906488"/>
            <a:ext cx="66258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ID Verification:</a:t>
            </a:r>
          </a:p>
        </p:txBody>
      </p:sp>
      <p:sp>
        <p:nvSpPr>
          <p:cNvPr id="183" name="Text 3"/>
          <p:cNvSpPr txBox="1"/>
          <p:nvPr/>
        </p:nvSpPr>
        <p:spPr>
          <a:xfrm>
            <a:off x="1748433" y="1906488"/>
            <a:ext cx="268069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Cross-references returned citation IDs against the master policy corpus.</a:t>
            </a:r>
          </a:p>
        </p:txBody>
      </p:sp>
      <p:pic>
        <p:nvPicPr>
          <p:cNvPr id="18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7250" y="2362237"/>
            <a:ext cx="85725" cy="85726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4"/>
          <p:cNvSpPr txBox="1"/>
          <p:nvPr/>
        </p:nvSpPr>
        <p:spPr>
          <a:xfrm>
            <a:off x="1014412" y="2333662"/>
            <a:ext cx="71019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Verbatim Extraction:</a:t>
            </a:r>
          </a:p>
        </p:txBody>
      </p:sp>
      <p:sp>
        <p:nvSpPr>
          <p:cNvPr id="186" name="Text 5"/>
          <p:cNvSpPr txBox="1"/>
          <p:nvPr/>
        </p:nvSpPr>
        <p:spPr>
          <a:xfrm>
            <a:off x="1796039" y="2333662"/>
            <a:ext cx="263308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Copies exact excerpts directly from source JSONL to prevent paraphrasing.</a:t>
            </a:r>
          </a:p>
        </p:txBody>
      </p:sp>
      <p:pic>
        <p:nvPicPr>
          <p:cNvPr id="187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7250" y="2789410"/>
            <a:ext cx="85725" cy="85726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 6"/>
          <p:cNvSpPr txBox="1"/>
          <p:nvPr/>
        </p:nvSpPr>
        <p:spPr>
          <a:xfrm>
            <a:off x="1014412" y="2760835"/>
            <a:ext cx="6910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Metadata Mapping:</a:t>
            </a:r>
          </a:p>
        </p:txBody>
      </p:sp>
      <p:sp>
        <p:nvSpPr>
          <p:cNvPr id="189" name="Text 7"/>
          <p:cNvSpPr txBox="1"/>
          <p:nvPr/>
        </p:nvSpPr>
        <p:spPr>
          <a:xfrm>
            <a:off x="1776868" y="2760835"/>
            <a:ext cx="26522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Converts internal indices to user-facing display pages and effective dates.</a:t>
            </a:r>
          </a:p>
        </p:txBody>
      </p:sp>
      <p:pic>
        <p:nvPicPr>
          <p:cNvPr id="190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714875" y="1605558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ext 8"/>
          <p:cNvSpPr txBox="1"/>
          <p:nvPr/>
        </p:nvSpPr>
        <p:spPr>
          <a:xfrm>
            <a:off x="4929187" y="1590376"/>
            <a:ext cx="1666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Model-Based Attribution</a:t>
            </a:r>
          </a:p>
        </p:txBody>
      </p:sp>
      <p:pic>
        <p:nvPicPr>
          <p:cNvPr id="192" name="Image 6" descr="Imag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00625" y="1935063"/>
            <a:ext cx="85725" cy="85726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 9"/>
          <p:cNvSpPr txBox="1"/>
          <p:nvPr/>
        </p:nvSpPr>
        <p:spPr>
          <a:xfrm>
            <a:off x="5157787" y="1906488"/>
            <a:ext cx="54275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Qualifier Audit:</a:t>
            </a:r>
          </a:p>
        </p:txBody>
      </p:sp>
      <p:sp>
        <p:nvSpPr>
          <p:cNvPr id="194" name="Text 10"/>
          <p:cNvSpPr txBox="1"/>
          <p:nvPr/>
        </p:nvSpPr>
        <p:spPr>
          <a:xfrm>
            <a:off x="5771982" y="1906488"/>
            <a:ext cx="280051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Ensures every date, quantity, and modality is explicitly supported by the text.</a:t>
            </a:r>
          </a:p>
        </p:txBody>
      </p:sp>
      <p:pic>
        <p:nvPicPr>
          <p:cNvPr id="195" name="Image 7" descr="Image 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000625" y="2362237"/>
            <a:ext cx="85725" cy="85726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ext 11"/>
          <p:cNvSpPr txBox="1"/>
          <p:nvPr/>
        </p:nvSpPr>
        <p:spPr>
          <a:xfrm>
            <a:off x="5157787" y="2333662"/>
            <a:ext cx="48887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Scope Check:</a:t>
            </a:r>
          </a:p>
        </p:txBody>
      </p:sp>
      <p:sp>
        <p:nvSpPr>
          <p:cNvPr id="197" name="Text 12"/>
          <p:cNvSpPr txBox="1"/>
          <p:nvPr/>
        </p:nvSpPr>
        <p:spPr>
          <a:xfrm>
            <a:off x="5718097" y="2333662"/>
            <a:ext cx="285440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Validates that exclusions and conditions in the answer match the policy evidence.</a:t>
            </a:r>
          </a:p>
        </p:txBody>
      </p:sp>
      <p:pic>
        <p:nvPicPr>
          <p:cNvPr id="198" name="Image 8" descr="Image 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000625" y="2789410"/>
            <a:ext cx="85725" cy="85726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 13"/>
          <p:cNvSpPr txBox="1"/>
          <p:nvPr/>
        </p:nvSpPr>
        <p:spPr>
          <a:xfrm>
            <a:off x="5157787" y="2760835"/>
            <a:ext cx="57937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Binary Verdicts:</a:t>
            </a:r>
          </a:p>
        </p:txBody>
      </p:sp>
      <p:sp>
        <p:nvSpPr>
          <p:cNvPr id="200" name="Text 14"/>
          <p:cNvSpPr txBox="1"/>
          <p:nvPr/>
        </p:nvSpPr>
        <p:spPr>
          <a:xfrm>
            <a:off x="5808593" y="2760835"/>
            <a:ext cx="276390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Forces a strict support/no-support decision to avoid ambiguous grounding.</a:t>
            </a:r>
          </a:p>
        </p:txBody>
      </p:sp>
      <p:sp>
        <p:nvSpPr>
          <p:cNvPr id="201" name="Shape 15"/>
          <p:cNvSpPr/>
          <p:nvPr/>
        </p:nvSpPr>
        <p:spPr>
          <a:xfrm>
            <a:off x="571500" y="3766653"/>
            <a:ext cx="8001000" cy="885826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FF6B3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02" name="Image 9" descr="Image 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14375" y="3920244"/>
            <a:ext cx="114300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ext 16"/>
          <p:cNvSpPr txBox="1"/>
          <p:nvPr/>
        </p:nvSpPr>
        <p:spPr>
          <a:xfrm>
            <a:off x="828675" y="3909528"/>
            <a:ext cx="1318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Human-Review Routing</a:t>
            </a:r>
          </a:p>
        </p:txBody>
      </p:sp>
      <p:sp>
        <p:nvSpPr>
          <p:cNvPr id="204" name="Text 17"/>
          <p:cNvSpPr txBox="1"/>
          <p:nvPr/>
        </p:nvSpPr>
        <p:spPr>
          <a:xfrm>
            <a:off x="714375" y="4161345"/>
            <a:ext cx="7715250" cy="279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Any statement flagged as </a:t>
            </a:r>
            <a:r>
              <a:rPr b="1"/>
              <a:t>NOT_SUPPORTED</a:t>
            </a:r>
            <a:r>
              <a:t>—due to missing, partial, or conflicting evidence—is automatically routed to a human reviewer. This prevents the system from inventing metadata or presenting hallucinations as facts.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 0"/>
          <p:cNvSpPr txBox="1"/>
          <p:nvPr/>
        </p:nvSpPr>
        <p:spPr>
          <a:xfrm>
            <a:off x="741552" y="574625"/>
            <a:ext cx="840244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PERFORMANCE AND LATENCY EVALUATION</a:t>
            </a:r>
          </a:p>
        </p:txBody>
      </p:sp>
      <p:sp>
        <p:nvSpPr>
          <p:cNvPr id="208" name="Text 1"/>
          <p:cNvSpPr txBox="1"/>
          <p:nvPr/>
        </p:nvSpPr>
        <p:spPr>
          <a:xfrm>
            <a:off x="1155342" y="1430795"/>
            <a:ext cx="792263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0000"/>
              </a:lnSpc>
              <a:defRPr b="1" sz="24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209" name="Text 2"/>
          <p:cNvSpPr txBox="1"/>
          <p:nvPr/>
        </p:nvSpPr>
        <p:spPr>
          <a:xfrm>
            <a:off x="2307276" y="1487945"/>
            <a:ext cx="150911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pc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AUDITED CITATION</a:t>
            </a:r>
          </a:p>
          <a:p>
            <a:pPr>
              <a:defRPr spc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PRECISION &amp; COVERAGE</a:t>
            </a:r>
          </a:p>
        </p:txBody>
      </p:sp>
      <p:sp>
        <p:nvSpPr>
          <p:cNvPr id="210" name="Text 3"/>
          <p:cNvSpPr txBox="1"/>
          <p:nvPr/>
        </p:nvSpPr>
        <p:spPr>
          <a:xfrm>
            <a:off x="1189349" y="1953498"/>
            <a:ext cx="72424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0000"/>
              </a:lnSpc>
              <a:defRPr b="1" sz="24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-25%</a:t>
            </a:r>
          </a:p>
        </p:txBody>
      </p:sp>
      <p:sp>
        <p:nvSpPr>
          <p:cNvPr id="211" name="Text 4"/>
          <p:cNvSpPr txBox="1"/>
          <p:nvPr/>
        </p:nvSpPr>
        <p:spPr>
          <a:xfrm>
            <a:off x="2321564" y="2010648"/>
            <a:ext cx="148054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pc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REDUCTION IN</a:t>
            </a:r>
          </a:p>
          <a:p>
            <a:pPr>
              <a:defRPr spc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REDUNDANT CITATIONS</a:t>
            </a:r>
          </a:p>
        </p:txBody>
      </p:sp>
      <p:sp>
        <p:nvSpPr>
          <p:cNvPr id="212" name="Text 5"/>
          <p:cNvSpPr txBox="1"/>
          <p:nvPr/>
        </p:nvSpPr>
        <p:spPr>
          <a:xfrm>
            <a:off x="1163751" y="2476201"/>
            <a:ext cx="775445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0000"/>
              </a:lnSpc>
              <a:defRPr b="1" sz="24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0.15s</a:t>
            </a:r>
          </a:p>
        </p:txBody>
      </p:sp>
      <p:sp>
        <p:nvSpPr>
          <p:cNvPr id="213" name="Text 6"/>
          <p:cNvSpPr txBox="1"/>
          <p:nvPr/>
        </p:nvSpPr>
        <p:spPr>
          <a:xfrm>
            <a:off x="2323788" y="2533351"/>
            <a:ext cx="89909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pc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MEDIAN LATENCY</a:t>
            </a:r>
          </a:p>
          <a:p>
            <a:pPr>
              <a:defRPr spc="1"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OVERHEAD</a:t>
            </a:r>
          </a:p>
        </p:txBody>
      </p:sp>
      <p:sp>
        <p:nvSpPr>
          <p:cNvPr id="214" name="Text 7"/>
          <p:cNvSpPr txBox="1"/>
          <p:nvPr/>
        </p:nvSpPr>
        <p:spPr>
          <a:xfrm>
            <a:off x="975307" y="3446672"/>
            <a:ext cx="37861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0B3B24"/>
                </a:solidFill>
                <a:latin typeface="monospace"/>
                <a:ea typeface="monospace"/>
                <a:cs typeface="monospace"/>
                <a:sym typeface="monospace"/>
              </a:defRPr>
            </a:lvl1pPr>
          </a:lstStyle>
          <a:p>
            <a:pPr/>
            <a:r>
              <a:t>Artifact: evaluation/results/20260702T041034Z.json</a:t>
            </a:r>
          </a:p>
        </p:txBody>
      </p:sp>
      <p:sp>
        <p:nvSpPr>
          <p:cNvPr id="215" name="Text 10"/>
          <p:cNvSpPr txBox="1"/>
          <p:nvPr/>
        </p:nvSpPr>
        <p:spPr>
          <a:xfrm>
            <a:off x="4759392" y="3345580"/>
            <a:ext cx="378618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b="1" sz="7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t>Scope:</a:t>
            </a:r>
            <a:r>
              <a:rPr b="0"/>
              <a:t> 10 questions | 3 documents | Author signoff complete.</a:t>
            </a:r>
            <a:endParaRPr b="0"/>
          </a:p>
          <a:p>
            <a:pPr>
              <a:lnSpc>
                <a:spcPct val="112000"/>
              </a:lnSpc>
              <a:defRPr b="1" sz="7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b="0"/>
              <a:t>PolicyCite demonstrates technical feasibility for a compact, inspectable audit trace with minimal performance impact.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Text 0"/>
          <p:cNvSpPr txBox="1"/>
          <p:nvPr/>
        </p:nvSpPr>
        <p:spPr>
          <a:xfrm>
            <a:off x="741552" y="574625"/>
            <a:ext cx="840244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STRATEGIC PILOT RECOMMENDATION</a:t>
            </a:r>
          </a:p>
        </p:txBody>
      </p:sp>
      <p:sp>
        <p:nvSpPr>
          <p:cNvPr id="219" name="Text 1"/>
          <p:cNvSpPr txBox="1"/>
          <p:nvPr/>
        </p:nvSpPr>
        <p:spPr>
          <a:xfrm>
            <a:off x="1027164" y="1433215"/>
            <a:ext cx="40877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1. Bounded Domain Start</a:t>
            </a:r>
          </a:p>
        </p:txBody>
      </p:sp>
      <p:sp>
        <p:nvSpPr>
          <p:cNvPr id="220" name="Text 2"/>
          <p:cNvSpPr txBox="1"/>
          <p:nvPr/>
        </p:nvSpPr>
        <p:spPr>
          <a:xfrm>
            <a:off x="1027164" y="1642169"/>
            <a:ext cx="408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Begin with one versioned policy domain restricted to approved, effective-dated sources.</a:t>
            </a:r>
          </a:p>
        </p:txBody>
      </p:sp>
      <p:sp>
        <p:nvSpPr>
          <p:cNvPr id="221" name="Text 3"/>
          <p:cNvSpPr txBox="1"/>
          <p:nvPr/>
        </p:nvSpPr>
        <p:spPr>
          <a:xfrm>
            <a:off x="1062325" y="2147590"/>
            <a:ext cx="4052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2. Reviewer-in-the-Loop</a:t>
            </a:r>
          </a:p>
        </p:txBody>
      </p:sp>
      <p:sp>
        <p:nvSpPr>
          <p:cNvPr id="222" name="Text 4"/>
          <p:cNvSpPr txBox="1"/>
          <p:nvPr/>
        </p:nvSpPr>
        <p:spPr>
          <a:xfrm>
            <a:off x="1062325" y="2356544"/>
            <a:ext cx="4052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Require explicit evidence for every claim and route all flags to human review.</a:t>
            </a:r>
          </a:p>
        </p:txBody>
      </p:sp>
      <p:sp>
        <p:nvSpPr>
          <p:cNvPr id="223" name="Text 5"/>
          <p:cNvSpPr txBox="1"/>
          <p:nvPr/>
        </p:nvSpPr>
        <p:spPr>
          <a:xfrm>
            <a:off x="1020216" y="2861965"/>
            <a:ext cx="40947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3. Versioned Audit Records</a:t>
            </a:r>
          </a:p>
        </p:txBody>
      </p:sp>
      <p:sp>
        <p:nvSpPr>
          <p:cNvPr id="224" name="Text 6"/>
          <p:cNvSpPr txBox="1"/>
          <p:nvPr/>
        </p:nvSpPr>
        <p:spPr>
          <a:xfrm>
            <a:off x="1020216" y="3070919"/>
            <a:ext cx="409470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Preserve statement, evidence, corpus versions, and reviewer decisions in a permanent log.</a:t>
            </a:r>
          </a:p>
        </p:txBody>
      </p:sp>
      <p:sp>
        <p:nvSpPr>
          <p:cNvPr id="225" name="Text 7"/>
          <p:cNvSpPr txBox="1"/>
          <p:nvPr/>
        </p:nvSpPr>
        <p:spPr>
          <a:xfrm>
            <a:off x="1064447" y="3576339"/>
            <a:ext cx="405047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4. Success Metrics</a:t>
            </a:r>
          </a:p>
        </p:txBody>
      </p:sp>
      <p:sp>
        <p:nvSpPr>
          <p:cNvPr id="226" name="Text 8"/>
          <p:cNvSpPr txBox="1"/>
          <p:nvPr/>
        </p:nvSpPr>
        <p:spPr>
          <a:xfrm>
            <a:off x="1064447" y="3785294"/>
            <a:ext cx="40504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8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Measure qualifier preservation, expert agreement, and reviewer time saved.</a:t>
            </a:r>
          </a:p>
        </p:txBody>
      </p:sp>
      <p:sp>
        <p:nvSpPr>
          <p:cNvPr id="227" name="Shape 9"/>
          <p:cNvSpPr/>
          <p:nvPr/>
        </p:nvSpPr>
        <p:spPr>
          <a:xfrm>
            <a:off x="5543550" y="1433215"/>
            <a:ext cx="3028950" cy="2857501"/>
          </a:xfrm>
          <a:prstGeom prst="rect">
            <a:avLst/>
          </a:prstGeom>
          <a:solidFill>
            <a:srgbClr val="FFFFFF">
              <a:alpha val="20000"/>
            </a:srgbClr>
          </a:solidFill>
          <a:ln w="27432">
            <a:solidFill>
              <a:srgbClr val="0B3B2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0"/>
          <p:cNvSpPr txBox="1"/>
          <p:nvPr/>
        </p:nvSpPr>
        <p:spPr>
          <a:xfrm>
            <a:off x="5757862" y="2212664"/>
            <a:ext cx="26003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0B3B24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Core Strategy</a:t>
            </a:r>
          </a:p>
        </p:txBody>
      </p:sp>
      <p:sp>
        <p:nvSpPr>
          <p:cNvPr id="229" name="Text 11"/>
          <p:cNvSpPr txBox="1"/>
          <p:nvPr/>
        </p:nvSpPr>
        <p:spPr>
          <a:xfrm>
            <a:off x="5757862" y="2562709"/>
            <a:ext cx="2600326" cy="676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8000"/>
              </a:lnSpc>
              <a:defRPr b="1" sz="900">
                <a:solidFill>
                  <a:srgbClr val="1A4D2E"/>
                </a:solidFill>
                <a:latin typeface="Inter Bold"/>
                <a:ea typeface="Inter Bold"/>
                <a:cs typeface="Inter Bold"/>
                <a:sym typeface="Inter Bold"/>
              </a:defRPr>
            </a:pPr>
            <a:r>
              <a:t>Build the evidence layer before expanding the chatbot.</a:t>
            </a:r>
            <a:endParaRPr b="0">
              <a:latin typeface="Inter Medium"/>
              <a:ea typeface="Inter Medium"/>
              <a:cs typeface="Inter Medium"/>
              <a:sym typeface="Inter Medium"/>
            </a:endParaRPr>
          </a:p>
          <a:p>
            <a:pPr algn="ctr">
              <a:lnSpc>
                <a:spcPct val="128000"/>
              </a:lnSpc>
              <a:defRPr b="1" sz="900">
                <a:solidFill>
                  <a:srgbClr val="1A4D2E"/>
                </a:solidFill>
                <a:latin typeface="Inter Bold"/>
                <a:ea typeface="Inter Bold"/>
                <a:cs typeface="Inter Bold"/>
                <a:sym typeface="Inter Bold"/>
              </a:defRPr>
            </a:pPr>
            <a:r>
              <a:rPr b="0">
                <a:latin typeface="Inter Medium"/>
                <a:ea typeface="Inter Medium"/>
                <a:cs typeface="Inter Medium"/>
                <a:sym typeface="Inter Medium"/>
              </a:rPr>
              <a:t> Expansion should be contingent on high citation precision and measurable workflow value.</a:t>
            </a:r>
          </a:p>
        </p:txBody>
      </p:sp>
      <p:sp>
        <p:nvSpPr>
          <p:cNvPr id="230" name="Text 12"/>
          <p:cNvSpPr txBox="1"/>
          <p:nvPr/>
        </p:nvSpPr>
        <p:spPr>
          <a:xfrm>
            <a:off x="571499" y="4729162"/>
            <a:ext cx="34272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0B3B24">
                    <a:alpha val="7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Sources: Wang et al. (2025); Xiong et al. (2024); Noy and Zhang (2023)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Shape 0"/>
          <p:cNvSpPr/>
          <p:nvPr/>
        </p:nvSpPr>
        <p:spPr>
          <a:xfrm>
            <a:off x="1612701" y="1113754"/>
            <a:ext cx="5918599" cy="2901703"/>
          </a:xfrm>
          <a:prstGeom prst="rect">
            <a:avLst/>
          </a:prstGeom>
          <a:solidFill>
            <a:srgbClr val="E0F2E9">
              <a:alpha val="9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"/>
          <p:cNvSpPr txBox="1"/>
          <p:nvPr/>
        </p:nvSpPr>
        <p:spPr>
          <a:xfrm>
            <a:off x="1612701" y="2297906"/>
            <a:ext cx="591859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pc="2" sz="35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POLICYCITE-RAG</a:t>
            </a:r>
          </a:p>
        </p:txBody>
      </p:sp>
      <p:sp>
        <p:nvSpPr>
          <p:cNvPr id="235" name="Text 2"/>
          <p:cNvSpPr txBox="1"/>
          <p:nvPr/>
        </p:nvSpPr>
        <p:spPr>
          <a:xfrm>
            <a:off x="1612701" y="3041441"/>
            <a:ext cx="591859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DEMO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7144"/>
            <a:ext cx="914400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Shape 0"/>
          <p:cNvSpPr/>
          <p:nvPr/>
        </p:nvSpPr>
        <p:spPr>
          <a:xfrm>
            <a:off x="1612701" y="1113754"/>
            <a:ext cx="5918599" cy="2901703"/>
          </a:xfrm>
          <a:prstGeom prst="rect">
            <a:avLst/>
          </a:prstGeom>
          <a:solidFill>
            <a:srgbClr val="E0F2E9">
              <a:alpha val="9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"/>
          <p:cNvSpPr txBox="1"/>
          <p:nvPr/>
        </p:nvSpPr>
        <p:spPr>
          <a:xfrm>
            <a:off x="1612701" y="2297906"/>
            <a:ext cx="591859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pc="2" sz="3500">
                <a:solidFill>
                  <a:srgbClr val="0B3B24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240" name="Text 2"/>
          <p:cNvSpPr txBox="1"/>
          <p:nvPr/>
        </p:nvSpPr>
        <p:spPr>
          <a:xfrm>
            <a:off x="1612701" y="3041441"/>
            <a:ext cx="591859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A4D2E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Aanya Lari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